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oppins" panose="00000500000000000000" pitchFamily="2" charset="0"/>
      <p:regular r:id="rId14"/>
      <p:bold r:id="rId15"/>
    </p:embeddedFont>
    <p:embeddedFont>
      <p:font typeface="Poppins Bold" panose="00000800000000000000" pitchFamily="2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035261" y="500910"/>
            <a:ext cx="9560371" cy="9285181"/>
          </a:xfrm>
          <a:custGeom>
            <a:avLst/>
            <a:gdLst/>
            <a:ahLst/>
            <a:cxnLst/>
            <a:rect l="l" t="t" r="r" b="b"/>
            <a:pathLst>
              <a:path w="9560371" h="9285181">
                <a:moveTo>
                  <a:pt x="9560372" y="0"/>
                </a:moveTo>
                <a:lnTo>
                  <a:pt x="0" y="0"/>
                </a:lnTo>
                <a:lnTo>
                  <a:pt x="0" y="9285180"/>
                </a:lnTo>
                <a:lnTo>
                  <a:pt x="9560372" y="9285180"/>
                </a:lnTo>
                <a:lnTo>
                  <a:pt x="9560372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-29495"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224657" y="239620"/>
            <a:ext cx="9023140" cy="9807761"/>
          </a:xfrm>
          <a:custGeom>
            <a:avLst/>
            <a:gdLst/>
            <a:ahLst/>
            <a:cxnLst/>
            <a:rect l="l" t="t" r="r" b="b"/>
            <a:pathLst>
              <a:path w="9023140" h="9807761">
                <a:moveTo>
                  <a:pt x="0" y="0"/>
                </a:moveTo>
                <a:lnTo>
                  <a:pt x="9023140" y="0"/>
                </a:lnTo>
                <a:lnTo>
                  <a:pt x="9023140" y="9807760"/>
                </a:lnTo>
                <a:lnTo>
                  <a:pt x="0" y="98077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26344" y="1505643"/>
            <a:ext cx="11082578" cy="292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Sistem Pencarian Citra Medis Berbasis Deep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6344" y="8096250"/>
            <a:ext cx="2712950" cy="49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ont"/>
                <a:ea typeface="Mont"/>
                <a:cs typeface="Mont"/>
                <a:sym typeface="Mont"/>
              </a:rPr>
              <a:t>Presented By: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02486" y="8539479"/>
            <a:ext cx="6232775" cy="121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Maylani Kusuma Wardhani (202210370311123)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26344" y="4432993"/>
            <a:ext cx="11082578" cy="292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sz="5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Diagnosis Awal </a:t>
            </a:r>
            <a:r>
              <a:rPr lang="en-US" sz="54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Penyakit</a:t>
            </a:r>
            <a:r>
              <a:rPr lang="en-US" sz="5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Paru </a:t>
            </a:r>
            <a:r>
              <a:rPr lang="en-US" sz="54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Menggunakan</a:t>
            </a:r>
            <a:r>
              <a:rPr lang="en-US" sz="5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Dataset X-ray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3317" y="479239"/>
            <a:ext cx="16941365" cy="9328521"/>
            <a:chOff x="0" y="0"/>
            <a:chExt cx="147611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6112" cy="812800"/>
            </a:xfrm>
            <a:custGeom>
              <a:avLst/>
              <a:gdLst/>
              <a:ahLst/>
              <a:cxnLst/>
              <a:rect l="l" t="t" r="r" b="b"/>
              <a:pathLst>
                <a:path w="1476112" h="812800">
                  <a:moveTo>
                    <a:pt x="10511" y="0"/>
                  </a:moveTo>
                  <a:lnTo>
                    <a:pt x="1465601" y="0"/>
                  </a:lnTo>
                  <a:cubicBezTo>
                    <a:pt x="1471406" y="0"/>
                    <a:pt x="1476112" y="4706"/>
                    <a:pt x="1476112" y="10511"/>
                  </a:cubicBezTo>
                  <a:lnTo>
                    <a:pt x="1476112" y="802289"/>
                  </a:lnTo>
                  <a:cubicBezTo>
                    <a:pt x="1476112" y="808094"/>
                    <a:pt x="1471406" y="812800"/>
                    <a:pt x="1465601" y="812800"/>
                  </a:cubicBezTo>
                  <a:lnTo>
                    <a:pt x="10511" y="812800"/>
                  </a:lnTo>
                  <a:cubicBezTo>
                    <a:pt x="4706" y="812800"/>
                    <a:pt x="0" y="808094"/>
                    <a:pt x="0" y="802289"/>
                  </a:cubicBezTo>
                  <a:lnTo>
                    <a:pt x="0" y="10511"/>
                  </a:lnTo>
                  <a:cubicBezTo>
                    <a:pt x="0" y="4706"/>
                    <a:pt x="4706" y="0"/>
                    <a:pt x="10511" y="0"/>
                  </a:cubicBezTo>
                  <a:close/>
                </a:path>
              </a:pathLst>
            </a:custGeom>
            <a:blipFill>
              <a:blip r:embed="rId2"/>
              <a:stretch>
                <a:fillRect t="-1871" b="-187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498110" y="2251418"/>
            <a:ext cx="13291780" cy="1543050"/>
            <a:chOff x="0" y="0"/>
            <a:chExt cx="3500716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00716" cy="406400"/>
            </a:xfrm>
            <a:custGeom>
              <a:avLst/>
              <a:gdLst/>
              <a:ahLst/>
              <a:cxnLst/>
              <a:rect l="l" t="t" r="r" b="b"/>
              <a:pathLst>
                <a:path w="3500716" h="406400">
                  <a:moveTo>
                    <a:pt x="29705" y="0"/>
                  </a:moveTo>
                  <a:lnTo>
                    <a:pt x="3471010" y="0"/>
                  </a:lnTo>
                  <a:cubicBezTo>
                    <a:pt x="3478889" y="0"/>
                    <a:pt x="3486445" y="3130"/>
                    <a:pt x="3492015" y="8701"/>
                  </a:cubicBezTo>
                  <a:cubicBezTo>
                    <a:pt x="3497586" y="14271"/>
                    <a:pt x="3500716" y="21827"/>
                    <a:pt x="3500716" y="29705"/>
                  </a:cubicBezTo>
                  <a:lnTo>
                    <a:pt x="3500716" y="376695"/>
                  </a:lnTo>
                  <a:cubicBezTo>
                    <a:pt x="3500716" y="384573"/>
                    <a:pt x="3497586" y="392129"/>
                    <a:pt x="3492015" y="397699"/>
                  </a:cubicBezTo>
                  <a:cubicBezTo>
                    <a:pt x="3486445" y="403270"/>
                    <a:pt x="3478889" y="406400"/>
                    <a:pt x="3471010" y="406400"/>
                  </a:cubicBezTo>
                  <a:lnTo>
                    <a:pt x="29705" y="406400"/>
                  </a:lnTo>
                  <a:cubicBezTo>
                    <a:pt x="21827" y="406400"/>
                    <a:pt x="14271" y="403270"/>
                    <a:pt x="8701" y="397699"/>
                  </a:cubicBezTo>
                  <a:cubicBezTo>
                    <a:pt x="3130" y="392129"/>
                    <a:pt x="0" y="384573"/>
                    <a:pt x="0" y="376695"/>
                  </a:cubicBezTo>
                  <a:lnTo>
                    <a:pt x="0" y="29705"/>
                  </a:lnTo>
                  <a:cubicBezTo>
                    <a:pt x="0" y="21827"/>
                    <a:pt x="3130" y="14271"/>
                    <a:pt x="8701" y="8701"/>
                  </a:cubicBezTo>
                  <a:cubicBezTo>
                    <a:pt x="14271" y="3130"/>
                    <a:pt x="21827" y="0"/>
                    <a:pt x="29705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50071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53857" y="904875"/>
            <a:ext cx="7709743" cy="1005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LATAR BELAKANG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08063" y="2381600"/>
            <a:ext cx="12271874" cy="114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Pneumonia dan COVID-19 masih menjadi masalah kesehatan global yang serius (UNICEF, 2025; WHO, 2024).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650510" y="4121006"/>
            <a:ext cx="13291780" cy="1543050"/>
            <a:chOff x="0" y="0"/>
            <a:chExt cx="3500716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00716" cy="406400"/>
            </a:xfrm>
            <a:custGeom>
              <a:avLst/>
              <a:gdLst/>
              <a:ahLst/>
              <a:cxnLst/>
              <a:rect l="l" t="t" r="r" b="b"/>
              <a:pathLst>
                <a:path w="3500716" h="406400">
                  <a:moveTo>
                    <a:pt x="29705" y="0"/>
                  </a:moveTo>
                  <a:lnTo>
                    <a:pt x="3471010" y="0"/>
                  </a:lnTo>
                  <a:cubicBezTo>
                    <a:pt x="3478889" y="0"/>
                    <a:pt x="3486445" y="3130"/>
                    <a:pt x="3492015" y="8701"/>
                  </a:cubicBezTo>
                  <a:cubicBezTo>
                    <a:pt x="3497586" y="14271"/>
                    <a:pt x="3500716" y="21827"/>
                    <a:pt x="3500716" y="29705"/>
                  </a:cubicBezTo>
                  <a:lnTo>
                    <a:pt x="3500716" y="376695"/>
                  </a:lnTo>
                  <a:cubicBezTo>
                    <a:pt x="3500716" y="384573"/>
                    <a:pt x="3497586" y="392129"/>
                    <a:pt x="3492015" y="397699"/>
                  </a:cubicBezTo>
                  <a:cubicBezTo>
                    <a:pt x="3486445" y="403270"/>
                    <a:pt x="3478889" y="406400"/>
                    <a:pt x="3471010" y="406400"/>
                  </a:cubicBezTo>
                  <a:lnTo>
                    <a:pt x="29705" y="406400"/>
                  </a:lnTo>
                  <a:cubicBezTo>
                    <a:pt x="21827" y="406400"/>
                    <a:pt x="14271" y="403270"/>
                    <a:pt x="8701" y="397699"/>
                  </a:cubicBezTo>
                  <a:cubicBezTo>
                    <a:pt x="3130" y="392129"/>
                    <a:pt x="0" y="384573"/>
                    <a:pt x="0" y="376695"/>
                  </a:cubicBezTo>
                  <a:lnTo>
                    <a:pt x="0" y="29705"/>
                  </a:lnTo>
                  <a:cubicBezTo>
                    <a:pt x="0" y="21827"/>
                    <a:pt x="3130" y="14271"/>
                    <a:pt x="8701" y="8701"/>
                  </a:cubicBezTo>
                  <a:cubicBezTo>
                    <a:pt x="14271" y="3130"/>
                    <a:pt x="21827" y="0"/>
                    <a:pt x="29705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50071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650510" y="5987906"/>
            <a:ext cx="13291780" cy="1543050"/>
            <a:chOff x="0" y="0"/>
            <a:chExt cx="3500716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00716" cy="406400"/>
            </a:xfrm>
            <a:custGeom>
              <a:avLst/>
              <a:gdLst/>
              <a:ahLst/>
              <a:cxnLst/>
              <a:rect l="l" t="t" r="r" b="b"/>
              <a:pathLst>
                <a:path w="3500716" h="406400">
                  <a:moveTo>
                    <a:pt x="29705" y="0"/>
                  </a:moveTo>
                  <a:lnTo>
                    <a:pt x="3471010" y="0"/>
                  </a:lnTo>
                  <a:cubicBezTo>
                    <a:pt x="3478889" y="0"/>
                    <a:pt x="3486445" y="3130"/>
                    <a:pt x="3492015" y="8701"/>
                  </a:cubicBezTo>
                  <a:cubicBezTo>
                    <a:pt x="3497586" y="14271"/>
                    <a:pt x="3500716" y="21827"/>
                    <a:pt x="3500716" y="29705"/>
                  </a:cubicBezTo>
                  <a:lnTo>
                    <a:pt x="3500716" y="376695"/>
                  </a:lnTo>
                  <a:cubicBezTo>
                    <a:pt x="3500716" y="384573"/>
                    <a:pt x="3497586" y="392129"/>
                    <a:pt x="3492015" y="397699"/>
                  </a:cubicBezTo>
                  <a:cubicBezTo>
                    <a:pt x="3486445" y="403270"/>
                    <a:pt x="3478889" y="406400"/>
                    <a:pt x="3471010" y="406400"/>
                  </a:cubicBezTo>
                  <a:lnTo>
                    <a:pt x="29705" y="406400"/>
                  </a:lnTo>
                  <a:cubicBezTo>
                    <a:pt x="21827" y="406400"/>
                    <a:pt x="14271" y="403270"/>
                    <a:pt x="8701" y="397699"/>
                  </a:cubicBezTo>
                  <a:cubicBezTo>
                    <a:pt x="3130" y="392129"/>
                    <a:pt x="0" y="384573"/>
                    <a:pt x="0" y="376695"/>
                  </a:cubicBezTo>
                  <a:lnTo>
                    <a:pt x="0" y="29705"/>
                  </a:lnTo>
                  <a:cubicBezTo>
                    <a:pt x="0" y="21827"/>
                    <a:pt x="3130" y="14271"/>
                    <a:pt x="8701" y="8701"/>
                  </a:cubicBezTo>
                  <a:cubicBezTo>
                    <a:pt x="14271" y="3130"/>
                    <a:pt x="21827" y="0"/>
                    <a:pt x="29705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50071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650510" y="7762875"/>
            <a:ext cx="13291780" cy="1543050"/>
            <a:chOff x="0" y="0"/>
            <a:chExt cx="3500716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00716" cy="406400"/>
            </a:xfrm>
            <a:custGeom>
              <a:avLst/>
              <a:gdLst/>
              <a:ahLst/>
              <a:cxnLst/>
              <a:rect l="l" t="t" r="r" b="b"/>
              <a:pathLst>
                <a:path w="3500716" h="406400">
                  <a:moveTo>
                    <a:pt x="29705" y="0"/>
                  </a:moveTo>
                  <a:lnTo>
                    <a:pt x="3471010" y="0"/>
                  </a:lnTo>
                  <a:cubicBezTo>
                    <a:pt x="3478889" y="0"/>
                    <a:pt x="3486445" y="3130"/>
                    <a:pt x="3492015" y="8701"/>
                  </a:cubicBezTo>
                  <a:cubicBezTo>
                    <a:pt x="3497586" y="14271"/>
                    <a:pt x="3500716" y="21827"/>
                    <a:pt x="3500716" y="29705"/>
                  </a:cubicBezTo>
                  <a:lnTo>
                    <a:pt x="3500716" y="376695"/>
                  </a:lnTo>
                  <a:cubicBezTo>
                    <a:pt x="3500716" y="384573"/>
                    <a:pt x="3497586" y="392129"/>
                    <a:pt x="3492015" y="397699"/>
                  </a:cubicBezTo>
                  <a:cubicBezTo>
                    <a:pt x="3486445" y="403270"/>
                    <a:pt x="3478889" y="406400"/>
                    <a:pt x="3471010" y="406400"/>
                  </a:cubicBezTo>
                  <a:lnTo>
                    <a:pt x="29705" y="406400"/>
                  </a:lnTo>
                  <a:cubicBezTo>
                    <a:pt x="21827" y="406400"/>
                    <a:pt x="14271" y="403270"/>
                    <a:pt x="8701" y="397699"/>
                  </a:cubicBezTo>
                  <a:cubicBezTo>
                    <a:pt x="3130" y="392129"/>
                    <a:pt x="0" y="384573"/>
                    <a:pt x="0" y="376695"/>
                  </a:cubicBezTo>
                  <a:lnTo>
                    <a:pt x="0" y="29705"/>
                  </a:lnTo>
                  <a:cubicBezTo>
                    <a:pt x="0" y="21827"/>
                    <a:pt x="3130" y="14271"/>
                    <a:pt x="8701" y="8701"/>
                  </a:cubicBezTo>
                  <a:cubicBezTo>
                    <a:pt x="14271" y="3130"/>
                    <a:pt x="21827" y="0"/>
                    <a:pt x="29705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350071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650510" y="7928617"/>
            <a:ext cx="13291780" cy="114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Diperlukan sistem bantu seperti Content-Based Image Retrieval (CBIR) untuk meningkatkan objektivitas dan efisiensi diagnosis.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50510" y="5991795"/>
            <a:ext cx="13291780" cy="1967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Foto Rontgen Dada (CXR) penting untuk diagnosis cepat karena biaya rendah dan ketersediaan luas, namun interpretasinya masih subjektif dan bervariasi (Kemenkes RI, 2024; PubMed, 2023).</a:t>
            </a:r>
          </a:p>
          <a:p>
            <a:pPr algn="ctr">
              <a:lnSpc>
                <a:spcPts val="3920"/>
              </a:lnSpc>
            </a:pPr>
            <a:endParaRPr lang="en-US" sz="28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008063" y="4286748"/>
            <a:ext cx="12271874" cy="17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Pneumonia menyebabkan lebih dari 700 ribu kematian anak per tahun di dunia (UNICEF, 2025).</a:t>
            </a: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54426" y="3979997"/>
            <a:ext cx="7859778" cy="2043542"/>
          </a:xfrm>
          <a:custGeom>
            <a:avLst/>
            <a:gdLst/>
            <a:ahLst/>
            <a:cxnLst/>
            <a:rect l="l" t="t" r="r" b="b"/>
            <a:pathLst>
              <a:path w="7859778" h="2043542">
                <a:moveTo>
                  <a:pt x="0" y="0"/>
                </a:moveTo>
                <a:lnTo>
                  <a:pt x="7859778" y="0"/>
                </a:lnTo>
                <a:lnTo>
                  <a:pt x="7859778" y="2043542"/>
                </a:lnTo>
                <a:lnTo>
                  <a:pt x="0" y="204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402026" y="6342745"/>
            <a:ext cx="8098356" cy="2105573"/>
          </a:xfrm>
          <a:custGeom>
            <a:avLst/>
            <a:gdLst/>
            <a:ahLst/>
            <a:cxnLst/>
            <a:rect l="l" t="t" r="r" b="b"/>
            <a:pathLst>
              <a:path w="8098356" h="2105573">
                <a:moveTo>
                  <a:pt x="0" y="0"/>
                </a:moveTo>
                <a:lnTo>
                  <a:pt x="8098357" y="0"/>
                </a:lnTo>
                <a:lnTo>
                  <a:pt x="8098357" y="2105573"/>
                </a:lnTo>
                <a:lnTo>
                  <a:pt x="0" y="2105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71984" y="3948982"/>
            <a:ext cx="8098356" cy="2105573"/>
          </a:xfrm>
          <a:custGeom>
            <a:avLst/>
            <a:gdLst/>
            <a:ahLst/>
            <a:cxnLst/>
            <a:rect l="l" t="t" r="r" b="b"/>
            <a:pathLst>
              <a:path w="8098356" h="2105573">
                <a:moveTo>
                  <a:pt x="0" y="0"/>
                </a:moveTo>
                <a:lnTo>
                  <a:pt x="8098357" y="0"/>
                </a:lnTo>
                <a:lnTo>
                  <a:pt x="8098357" y="2105573"/>
                </a:lnTo>
                <a:lnTo>
                  <a:pt x="0" y="21055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71984" y="6342745"/>
            <a:ext cx="8098356" cy="2105573"/>
          </a:xfrm>
          <a:custGeom>
            <a:avLst/>
            <a:gdLst/>
            <a:ahLst/>
            <a:cxnLst/>
            <a:rect l="l" t="t" r="r" b="b"/>
            <a:pathLst>
              <a:path w="8098356" h="2105573">
                <a:moveTo>
                  <a:pt x="0" y="0"/>
                </a:moveTo>
                <a:lnTo>
                  <a:pt x="8098357" y="0"/>
                </a:lnTo>
                <a:lnTo>
                  <a:pt x="8098357" y="2105573"/>
                </a:lnTo>
                <a:lnTo>
                  <a:pt x="0" y="21055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47991" y="3558802"/>
            <a:ext cx="5358336" cy="5358336"/>
          </a:xfrm>
          <a:custGeom>
            <a:avLst/>
            <a:gdLst/>
            <a:ahLst/>
            <a:cxnLst/>
            <a:rect l="l" t="t" r="r" b="b"/>
            <a:pathLst>
              <a:path w="5358336" h="5358336">
                <a:moveTo>
                  <a:pt x="0" y="0"/>
                </a:moveTo>
                <a:lnTo>
                  <a:pt x="5358336" y="0"/>
                </a:lnTo>
                <a:lnTo>
                  <a:pt x="5358336" y="5358336"/>
                </a:lnTo>
                <a:lnTo>
                  <a:pt x="0" y="53583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555046" y="1076373"/>
            <a:ext cx="7011591" cy="79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SOLUSI YANG DIUSULKAN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81215" y="4000908"/>
            <a:ext cx="412853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Identify Target Market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52640" y="4448584"/>
            <a:ext cx="5606371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Age: 15–40 years old (mainly indonesian turkey students)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Education: Indonesian students in Turk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and turkey student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81215" y="6536581"/>
            <a:ext cx="518543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Media &amp; Digital Ads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73496" y="6536581"/>
            <a:ext cx="412853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Discounts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16034" y="4188234"/>
            <a:ext cx="412853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4P Technique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81215" y="6998339"/>
            <a:ext cx="6319168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Focus on popular platforms: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Instagram (photos &amp; videos).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TikTok (interactive content).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50900" y="7131689"/>
            <a:ext cx="5680669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First-time user discount of 25%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Loyalty programs for returning users.</a:t>
            </a:r>
          </a:p>
          <a:p>
            <a:pPr algn="r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60715" y="4653224"/>
            <a:ext cx="568066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marketing strategy involves offering personalized mentoring (Product), flexible pricing (Price), targeting campus communities (Place), and promoting through digital ads and events (Promotion)</a:t>
            </a:r>
          </a:p>
        </p:txBody>
      </p:sp>
      <p:sp>
        <p:nvSpPr>
          <p:cNvPr id="25" name="Freeform 25"/>
          <p:cNvSpPr/>
          <p:nvPr/>
        </p:nvSpPr>
        <p:spPr>
          <a:xfrm>
            <a:off x="9673715" y="3948982"/>
            <a:ext cx="7859778" cy="2043542"/>
          </a:xfrm>
          <a:custGeom>
            <a:avLst/>
            <a:gdLst/>
            <a:ahLst/>
            <a:cxnLst/>
            <a:rect l="l" t="t" r="r" b="b"/>
            <a:pathLst>
              <a:path w="7859778" h="2043542">
                <a:moveTo>
                  <a:pt x="0" y="0"/>
                </a:moveTo>
                <a:lnTo>
                  <a:pt x="7859778" y="0"/>
                </a:lnTo>
                <a:lnTo>
                  <a:pt x="7859778" y="2043542"/>
                </a:lnTo>
                <a:lnTo>
                  <a:pt x="0" y="204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554426" y="6495145"/>
            <a:ext cx="8098356" cy="2105573"/>
          </a:xfrm>
          <a:custGeom>
            <a:avLst/>
            <a:gdLst/>
            <a:ahLst/>
            <a:cxnLst/>
            <a:rect l="l" t="t" r="r" b="b"/>
            <a:pathLst>
              <a:path w="8098356" h="2105573">
                <a:moveTo>
                  <a:pt x="0" y="0"/>
                </a:moveTo>
                <a:lnTo>
                  <a:pt x="8098357" y="0"/>
                </a:lnTo>
                <a:lnTo>
                  <a:pt x="8098357" y="2105573"/>
                </a:lnTo>
                <a:lnTo>
                  <a:pt x="0" y="2105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62484" y="4121559"/>
            <a:ext cx="8098356" cy="2105573"/>
          </a:xfrm>
          <a:custGeom>
            <a:avLst/>
            <a:gdLst/>
            <a:ahLst/>
            <a:cxnLst/>
            <a:rect l="l" t="t" r="r" b="b"/>
            <a:pathLst>
              <a:path w="8098356" h="2105573">
                <a:moveTo>
                  <a:pt x="0" y="0"/>
                </a:moveTo>
                <a:lnTo>
                  <a:pt x="8098357" y="0"/>
                </a:lnTo>
                <a:lnTo>
                  <a:pt x="8098357" y="2105572"/>
                </a:lnTo>
                <a:lnTo>
                  <a:pt x="0" y="2105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62484" y="6495145"/>
            <a:ext cx="8098356" cy="2105573"/>
          </a:xfrm>
          <a:custGeom>
            <a:avLst/>
            <a:gdLst/>
            <a:ahLst/>
            <a:cxnLst/>
            <a:rect l="l" t="t" r="r" b="b"/>
            <a:pathLst>
              <a:path w="8098356" h="2105573">
                <a:moveTo>
                  <a:pt x="0" y="0"/>
                </a:moveTo>
                <a:lnTo>
                  <a:pt x="8098357" y="0"/>
                </a:lnTo>
                <a:lnTo>
                  <a:pt x="8098357" y="2105573"/>
                </a:lnTo>
                <a:lnTo>
                  <a:pt x="0" y="21055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547991" y="3457623"/>
            <a:ext cx="5358336" cy="5358336"/>
          </a:xfrm>
          <a:custGeom>
            <a:avLst/>
            <a:gdLst/>
            <a:ahLst/>
            <a:cxnLst/>
            <a:rect l="l" t="t" r="r" b="b"/>
            <a:pathLst>
              <a:path w="5358336" h="5358336">
                <a:moveTo>
                  <a:pt x="0" y="0"/>
                </a:moveTo>
                <a:lnTo>
                  <a:pt x="5358336" y="0"/>
                </a:lnTo>
                <a:lnTo>
                  <a:pt x="5358336" y="5358336"/>
                </a:lnTo>
                <a:lnTo>
                  <a:pt x="0" y="53583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96377" y="4308884"/>
            <a:ext cx="5935192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Membangun sistem Content-Based Image Retrieval (CBIR) berbasis Deep Learning untuk mengenali kesamaan pola citra X-ray.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54849" y="1945688"/>
            <a:ext cx="14778301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“Implementasi Sistem Pencarian Citra Medis Berbasis Deep Learning untuk Diagnosis Awal Penyakit Paru Menggunakan Dataset X-ray”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54904" y="6807839"/>
            <a:ext cx="5935192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Diharapkan dapat mempercepat proses identifikasi awal penyakit paru dan meningkatkan efisiensi analisis citra medis.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4469" y="6807839"/>
            <a:ext cx="5935192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 dapat menemukan dan menampilkan citra serupa dari dataset X-ray beserta label diagnosis historisnya.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54280" y="4261259"/>
            <a:ext cx="5935192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Menggunakan Convolutional Neural Network (CNN) untuk ekstraksi fitur visual otomatis dan peningkatan akurasi pencarian.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3763" y="0"/>
                  </a:moveTo>
                  <a:lnTo>
                    <a:pt x="4680994" y="0"/>
                  </a:lnTo>
                  <a:cubicBezTo>
                    <a:pt x="4694118" y="0"/>
                    <a:pt x="4704757" y="10639"/>
                    <a:pt x="4704757" y="23763"/>
                  </a:cubicBezTo>
                  <a:lnTo>
                    <a:pt x="4704757" y="2566844"/>
                  </a:lnTo>
                  <a:cubicBezTo>
                    <a:pt x="4704757" y="2579968"/>
                    <a:pt x="4694118" y="2590608"/>
                    <a:pt x="4680994" y="2590608"/>
                  </a:cubicBezTo>
                  <a:lnTo>
                    <a:pt x="23763" y="2590608"/>
                  </a:lnTo>
                  <a:cubicBezTo>
                    <a:pt x="17461" y="2590608"/>
                    <a:pt x="11417" y="2588104"/>
                    <a:pt x="6960" y="2583648"/>
                  </a:cubicBezTo>
                  <a:cubicBezTo>
                    <a:pt x="2504" y="2579191"/>
                    <a:pt x="0" y="2573147"/>
                    <a:pt x="0" y="2566844"/>
                  </a:cubicBezTo>
                  <a:lnTo>
                    <a:pt x="0" y="23763"/>
                  </a:lnTo>
                  <a:cubicBezTo>
                    <a:pt x="0" y="10639"/>
                    <a:pt x="10639" y="0"/>
                    <a:pt x="237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5400000">
            <a:off x="2443631" y="2655070"/>
            <a:ext cx="1741603" cy="2132507"/>
            <a:chOff x="0" y="0"/>
            <a:chExt cx="622638" cy="7623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2638" cy="762390"/>
            </a:xfrm>
            <a:custGeom>
              <a:avLst/>
              <a:gdLst/>
              <a:ahLst/>
              <a:cxnLst/>
              <a:rect l="l" t="t" r="r" b="b"/>
              <a:pathLst>
                <a:path w="622638" h="762390">
                  <a:moveTo>
                    <a:pt x="0" y="0"/>
                  </a:moveTo>
                  <a:lnTo>
                    <a:pt x="419438" y="0"/>
                  </a:lnTo>
                  <a:lnTo>
                    <a:pt x="622638" y="381195"/>
                  </a:lnTo>
                  <a:lnTo>
                    <a:pt x="419438" y="762390"/>
                  </a:lnTo>
                  <a:lnTo>
                    <a:pt x="0" y="762390"/>
                  </a:lnTo>
                  <a:lnTo>
                    <a:pt x="203200" y="381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A00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47625"/>
              <a:ext cx="368638" cy="810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2443631" y="3994377"/>
            <a:ext cx="1741603" cy="2132507"/>
            <a:chOff x="0" y="0"/>
            <a:chExt cx="622638" cy="7623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2638" cy="762390"/>
            </a:xfrm>
            <a:custGeom>
              <a:avLst/>
              <a:gdLst/>
              <a:ahLst/>
              <a:cxnLst/>
              <a:rect l="l" t="t" r="r" b="b"/>
              <a:pathLst>
                <a:path w="622638" h="762390">
                  <a:moveTo>
                    <a:pt x="0" y="0"/>
                  </a:moveTo>
                  <a:lnTo>
                    <a:pt x="419438" y="0"/>
                  </a:lnTo>
                  <a:lnTo>
                    <a:pt x="622638" y="381195"/>
                  </a:lnTo>
                  <a:lnTo>
                    <a:pt x="419438" y="762390"/>
                  </a:lnTo>
                  <a:lnTo>
                    <a:pt x="0" y="762390"/>
                  </a:lnTo>
                  <a:lnTo>
                    <a:pt x="203200" y="381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A00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66675"/>
              <a:ext cx="368638" cy="829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2652210" y="2764751"/>
            <a:ext cx="1324446" cy="1913146"/>
            <a:chOff x="0" y="0"/>
            <a:chExt cx="622638" cy="8993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2638" cy="899394"/>
            </a:xfrm>
            <a:custGeom>
              <a:avLst/>
              <a:gdLst/>
              <a:ahLst/>
              <a:cxnLst/>
              <a:rect l="l" t="t" r="r" b="b"/>
              <a:pathLst>
                <a:path w="622638" h="899394">
                  <a:moveTo>
                    <a:pt x="0" y="0"/>
                  </a:moveTo>
                  <a:lnTo>
                    <a:pt x="419438" y="0"/>
                  </a:lnTo>
                  <a:lnTo>
                    <a:pt x="622638" y="449697"/>
                  </a:lnTo>
                  <a:lnTo>
                    <a:pt x="419438" y="899394"/>
                  </a:lnTo>
                  <a:lnTo>
                    <a:pt x="0" y="899394"/>
                  </a:lnTo>
                  <a:lnTo>
                    <a:pt x="203200" y="44969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9525"/>
              <a:ext cx="368638" cy="908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3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2611159" y="4104058"/>
            <a:ext cx="1406548" cy="1913146"/>
            <a:chOff x="0" y="0"/>
            <a:chExt cx="622638" cy="84689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2638" cy="846895"/>
            </a:xfrm>
            <a:custGeom>
              <a:avLst/>
              <a:gdLst/>
              <a:ahLst/>
              <a:cxnLst/>
              <a:rect l="l" t="t" r="r" b="b"/>
              <a:pathLst>
                <a:path w="622638" h="846895">
                  <a:moveTo>
                    <a:pt x="0" y="0"/>
                  </a:moveTo>
                  <a:lnTo>
                    <a:pt x="419438" y="0"/>
                  </a:lnTo>
                  <a:lnTo>
                    <a:pt x="622638" y="423447"/>
                  </a:lnTo>
                  <a:lnTo>
                    <a:pt x="419438" y="846895"/>
                  </a:lnTo>
                  <a:lnTo>
                    <a:pt x="0" y="846895"/>
                  </a:lnTo>
                  <a:lnTo>
                    <a:pt x="203200" y="4234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177800" y="-47625"/>
              <a:ext cx="368638" cy="894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2443631" y="5323525"/>
            <a:ext cx="1741603" cy="2132507"/>
            <a:chOff x="0" y="0"/>
            <a:chExt cx="622638" cy="7623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2638" cy="762390"/>
            </a:xfrm>
            <a:custGeom>
              <a:avLst/>
              <a:gdLst/>
              <a:ahLst/>
              <a:cxnLst/>
              <a:rect l="l" t="t" r="r" b="b"/>
              <a:pathLst>
                <a:path w="622638" h="762390">
                  <a:moveTo>
                    <a:pt x="0" y="0"/>
                  </a:moveTo>
                  <a:lnTo>
                    <a:pt x="419438" y="0"/>
                  </a:lnTo>
                  <a:lnTo>
                    <a:pt x="622638" y="381195"/>
                  </a:lnTo>
                  <a:lnTo>
                    <a:pt x="419438" y="762390"/>
                  </a:lnTo>
                  <a:lnTo>
                    <a:pt x="0" y="762390"/>
                  </a:lnTo>
                  <a:lnTo>
                    <a:pt x="203200" y="381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A633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77800" y="-66675"/>
              <a:ext cx="368638" cy="829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2670033" y="5451330"/>
            <a:ext cx="1288800" cy="1913146"/>
            <a:chOff x="0" y="0"/>
            <a:chExt cx="640658" cy="9510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0658" cy="951018"/>
            </a:xfrm>
            <a:custGeom>
              <a:avLst/>
              <a:gdLst/>
              <a:ahLst/>
              <a:cxnLst/>
              <a:rect l="l" t="t" r="r" b="b"/>
              <a:pathLst>
                <a:path w="640658" h="951018">
                  <a:moveTo>
                    <a:pt x="0" y="0"/>
                  </a:moveTo>
                  <a:lnTo>
                    <a:pt x="437458" y="0"/>
                  </a:lnTo>
                  <a:lnTo>
                    <a:pt x="640658" y="475509"/>
                  </a:lnTo>
                  <a:lnTo>
                    <a:pt x="437458" y="951018"/>
                  </a:lnTo>
                  <a:lnTo>
                    <a:pt x="0" y="951018"/>
                  </a:lnTo>
                  <a:lnTo>
                    <a:pt x="203200" y="475509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7800" y="-28575"/>
              <a:ext cx="386658" cy="979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80686" y="2850522"/>
            <a:ext cx="11403659" cy="1177008"/>
            <a:chOff x="0" y="0"/>
            <a:chExt cx="2777891" cy="2867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77891" cy="286715"/>
            </a:xfrm>
            <a:custGeom>
              <a:avLst/>
              <a:gdLst/>
              <a:ahLst/>
              <a:cxnLst/>
              <a:rect l="l" t="t" r="r" b="b"/>
              <a:pathLst>
                <a:path w="2777891" h="286715">
                  <a:moveTo>
                    <a:pt x="0" y="0"/>
                  </a:moveTo>
                  <a:lnTo>
                    <a:pt x="2777891" y="0"/>
                  </a:lnTo>
                  <a:lnTo>
                    <a:pt x="2777891" y="286715"/>
                  </a:lnTo>
                  <a:lnTo>
                    <a:pt x="0" y="286715"/>
                  </a:lnTo>
                  <a:close/>
                </a:path>
              </a:pathLst>
            </a:custGeom>
            <a:solidFill>
              <a:srgbClr val="F5A002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2777891" cy="353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0686" y="5513489"/>
            <a:ext cx="11403659" cy="1177008"/>
            <a:chOff x="0" y="0"/>
            <a:chExt cx="2777891" cy="28671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77891" cy="286715"/>
            </a:xfrm>
            <a:custGeom>
              <a:avLst/>
              <a:gdLst/>
              <a:ahLst/>
              <a:cxnLst/>
              <a:rect l="l" t="t" r="r" b="b"/>
              <a:pathLst>
                <a:path w="2777891" h="286715">
                  <a:moveTo>
                    <a:pt x="0" y="0"/>
                  </a:moveTo>
                  <a:lnTo>
                    <a:pt x="2777891" y="0"/>
                  </a:lnTo>
                  <a:lnTo>
                    <a:pt x="2777891" y="286715"/>
                  </a:lnTo>
                  <a:lnTo>
                    <a:pt x="0" y="286715"/>
                  </a:lnTo>
                  <a:close/>
                </a:path>
              </a:pathLst>
            </a:custGeom>
            <a:solidFill>
              <a:srgbClr val="F5A00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2777891" cy="353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0686" y="4184750"/>
            <a:ext cx="11403659" cy="1177008"/>
            <a:chOff x="0" y="0"/>
            <a:chExt cx="2777891" cy="28671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77891" cy="286715"/>
            </a:xfrm>
            <a:custGeom>
              <a:avLst/>
              <a:gdLst/>
              <a:ahLst/>
              <a:cxnLst/>
              <a:rect l="l" t="t" r="r" b="b"/>
              <a:pathLst>
                <a:path w="2777891" h="286715">
                  <a:moveTo>
                    <a:pt x="0" y="0"/>
                  </a:moveTo>
                  <a:lnTo>
                    <a:pt x="2777891" y="0"/>
                  </a:lnTo>
                  <a:lnTo>
                    <a:pt x="2777891" y="286715"/>
                  </a:lnTo>
                  <a:lnTo>
                    <a:pt x="0" y="286715"/>
                  </a:lnTo>
                  <a:close/>
                </a:path>
              </a:pathLst>
            </a:custGeom>
            <a:solidFill>
              <a:srgbClr val="F5A002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2777891" cy="353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75265" y="2966433"/>
            <a:ext cx="10927671" cy="947189"/>
            <a:chOff x="0" y="0"/>
            <a:chExt cx="2661942" cy="2307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661942" cy="230732"/>
            </a:xfrm>
            <a:custGeom>
              <a:avLst/>
              <a:gdLst/>
              <a:ahLst/>
              <a:cxnLst/>
              <a:rect l="l" t="t" r="r" b="b"/>
              <a:pathLst>
                <a:path w="2661942" h="230732">
                  <a:moveTo>
                    <a:pt x="0" y="0"/>
                  </a:moveTo>
                  <a:lnTo>
                    <a:pt x="2661942" y="0"/>
                  </a:lnTo>
                  <a:lnTo>
                    <a:pt x="2661942" y="230732"/>
                  </a:lnTo>
                  <a:lnTo>
                    <a:pt x="0" y="230732"/>
                  </a:lnTo>
                  <a:close/>
                </a:path>
              </a:pathLst>
            </a:custGeom>
            <a:solidFill>
              <a:srgbClr val="FEFEFE"/>
            </a:solidFill>
            <a:ln w="57150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2661942" cy="297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86076" y="4299659"/>
            <a:ext cx="10916861" cy="947189"/>
            <a:chOff x="0" y="0"/>
            <a:chExt cx="2659309" cy="23073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659309" cy="230732"/>
            </a:xfrm>
            <a:custGeom>
              <a:avLst/>
              <a:gdLst/>
              <a:ahLst/>
              <a:cxnLst/>
              <a:rect l="l" t="t" r="r" b="b"/>
              <a:pathLst>
                <a:path w="2659309" h="230732">
                  <a:moveTo>
                    <a:pt x="0" y="0"/>
                  </a:moveTo>
                  <a:lnTo>
                    <a:pt x="2659309" y="0"/>
                  </a:lnTo>
                  <a:lnTo>
                    <a:pt x="2659309" y="230732"/>
                  </a:lnTo>
                  <a:lnTo>
                    <a:pt x="0" y="230732"/>
                  </a:lnTo>
                  <a:close/>
                </a:path>
              </a:pathLst>
            </a:custGeom>
            <a:solidFill>
              <a:srgbClr val="FEFEFE"/>
            </a:solidFill>
            <a:ln w="57150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2659309" cy="297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86076" y="5629515"/>
            <a:ext cx="10916861" cy="947189"/>
            <a:chOff x="0" y="0"/>
            <a:chExt cx="2659309" cy="23073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659309" cy="230732"/>
            </a:xfrm>
            <a:custGeom>
              <a:avLst/>
              <a:gdLst/>
              <a:ahLst/>
              <a:cxnLst/>
              <a:rect l="l" t="t" r="r" b="b"/>
              <a:pathLst>
                <a:path w="2659309" h="230732">
                  <a:moveTo>
                    <a:pt x="0" y="0"/>
                  </a:moveTo>
                  <a:lnTo>
                    <a:pt x="2659309" y="0"/>
                  </a:lnTo>
                  <a:lnTo>
                    <a:pt x="2659309" y="230732"/>
                  </a:lnTo>
                  <a:lnTo>
                    <a:pt x="0" y="230732"/>
                  </a:lnTo>
                  <a:close/>
                </a:path>
              </a:pathLst>
            </a:custGeom>
            <a:solidFill>
              <a:srgbClr val="FEFEFE"/>
            </a:solidFill>
            <a:ln w="57150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2659309" cy="297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2443631" y="6685904"/>
            <a:ext cx="1741603" cy="2132507"/>
            <a:chOff x="0" y="0"/>
            <a:chExt cx="622638" cy="76239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2638" cy="762390"/>
            </a:xfrm>
            <a:custGeom>
              <a:avLst/>
              <a:gdLst/>
              <a:ahLst/>
              <a:cxnLst/>
              <a:rect l="l" t="t" r="r" b="b"/>
              <a:pathLst>
                <a:path w="622638" h="762390">
                  <a:moveTo>
                    <a:pt x="0" y="0"/>
                  </a:moveTo>
                  <a:lnTo>
                    <a:pt x="419438" y="0"/>
                  </a:lnTo>
                  <a:lnTo>
                    <a:pt x="622638" y="381195"/>
                  </a:lnTo>
                  <a:lnTo>
                    <a:pt x="419438" y="762390"/>
                  </a:lnTo>
                  <a:lnTo>
                    <a:pt x="0" y="762390"/>
                  </a:lnTo>
                  <a:lnTo>
                    <a:pt x="203200" y="381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A633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177800" y="-66675"/>
              <a:ext cx="368638" cy="829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2670033" y="6813709"/>
            <a:ext cx="1288800" cy="1913146"/>
            <a:chOff x="0" y="0"/>
            <a:chExt cx="640658" cy="95101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40658" cy="951018"/>
            </a:xfrm>
            <a:custGeom>
              <a:avLst/>
              <a:gdLst/>
              <a:ahLst/>
              <a:cxnLst/>
              <a:rect l="l" t="t" r="r" b="b"/>
              <a:pathLst>
                <a:path w="640658" h="951018">
                  <a:moveTo>
                    <a:pt x="0" y="0"/>
                  </a:moveTo>
                  <a:lnTo>
                    <a:pt x="437458" y="0"/>
                  </a:lnTo>
                  <a:lnTo>
                    <a:pt x="640658" y="475509"/>
                  </a:lnTo>
                  <a:lnTo>
                    <a:pt x="437458" y="951018"/>
                  </a:lnTo>
                  <a:lnTo>
                    <a:pt x="0" y="951018"/>
                  </a:lnTo>
                  <a:lnTo>
                    <a:pt x="203200" y="475509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77800" y="-28575"/>
              <a:ext cx="386658" cy="979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80686" y="6875868"/>
            <a:ext cx="11403659" cy="1177008"/>
            <a:chOff x="0" y="0"/>
            <a:chExt cx="2777891" cy="28671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77891" cy="286715"/>
            </a:xfrm>
            <a:custGeom>
              <a:avLst/>
              <a:gdLst/>
              <a:ahLst/>
              <a:cxnLst/>
              <a:rect l="l" t="t" r="r" b="b"/>
              <a:pathLst>
                <a:path w="2777891" h="286715">
                  <a:moveTo>
                    <a:pt x="0" y="0"/>
                  </a:moveTo>
                  <a:lnTo>
                    <a:pt x="2777891" y="0"/>
                  </a:lnTo>
                  <a:lnTo>
                    <a:pt x="2777891" y="286715"/>
                  </a:lnTo>
                  <a:lnTo>
                    <a:pt x="0" y="286715"/>
                  </a:lnTo>
                  <a:close/>
                </a:path>
              </a:pathLst>
            </a:custGeom>
            <a:solidFill>
              <a:srgbClr val="F5A002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66675"/>
              <a:ext cx="2777891" cy="353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586076" y="6991894"/>
            <a:ext cx="10916861" cy="947189"/>
            <a:chOff x="0" y="0"/>
            <a:chExt cx="2659309" cy="23073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659309" cy="230732"/>
            </a:xfrm>
            <a:custGeom>
              <a:avLst/>
              <a:gdLst/>
              <a:ahLst/>
              <a:cxnLst/>
              <a:rect l="l" t="t" r="r" b="b"/>
              <a:pathLst>
                <a:path w="2659309" h="230732">
                  <a:moveTo>
                    <a:pt x="0" y="0"/>
                  </a:moveTo>
                  <a:lnTo>
                    <a:pt x="2659309" y="0"/>
                  </a:lnTo>
                  <a:lnTo>
                    <a:pt x="2659309" y="230732"/>
                  </a:lnTo>
                  <a:lnTo>
                    <a:pt x="0" y="230732"/>
                  </a:lnTo>
                  <a:close/>
                </a:path>
              </a:pathLst>
            </a:custGeom>
            <a:solidFill>
              <a:srgbClr val="FEFEFE"/>
            </a:solidFill>
            <a:ln w="57150" cap="sq">
              <a:gradFill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2659309" cy="297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3524475" y="1022831"/>
            <a:ext cx="11112968" cy="108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0"/>
              </a:lnSpc>
              <a:spcBef>
                <a:spcPct val="0"/>
              </a:spcBef>
            </a:pPr>
            <a:r>
              <a:rPr lang="en-US" sz="598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 &amp; ALUR KERJA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149293" y="3517210"/>
            <a:ext cx="2359925" cy="57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7"/>
              </a:lnSpc>
            </a:pPr>
            <a:r>
              <a:rPr lang="en-US" sz="31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134470" y="4790851"/>
            <a:ext cx="2359925" cy="57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7"/>
              </a:lnSpc>
            </a:pPr>
            <a:r>
              <a:rPr lang="en-US" sz="31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149293" y="6119590"/>
            <a:ext cx="2359925" cy="57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7"/>
              </a:lnSpc>
            </a:pPr>
            <a:r>
              <a:rPr lang="en-US" sz="31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867930" y="3157112"/>
            <a:ext cx="1063500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100F0D"/>
                </a:solidFill>
                <a:latin typeface="Poppins"/>
                <a:ea typeface="Poppins"/>
                <a:cs typeface="Poppins"/>
                <a:sym typeface="Poppins"/>
              </a:rPr>
              <a:t>Input: Gambar Rontgen (Query)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909426" y="4329214"/>
            <a:ext cx="10210865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0F0D"/>
                </a:solidFill>
                <a:latin typeface="Poppins"/>
                <a:ea typeface="Poppins"/>
                <a:cs typeface="Poppins"/>
                <a:sym typeface="Poppins"/>
              </a:rPr>
              <a:t>Ekstraksi Fitur: Gambar diubah menjadi Vektor Fitur oleh Model CNN (ResNet50).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618172" y="5670066"/>
            <a:ext cx="10884765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0F0D"/>
                </a:solidFill>
                <a:latin typeface="Poppins"/>
                <a:ea typeface="Poppins"/>
                <a:cs typeface="Poppins"/>
                <a:sym typeface="Poppins"/>
              </a:rPr>
              <a:t>Pencocokan: Vektor query  &amp; Database Vektor Fitur menggunakan metrik Cosine Similarity.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149293" y="7481969"/>
            <a:ext cx="2359925" cy="57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7"/>
              </a:lnSpc>
            </a:pPr>
            <a:r>
              <a:rPr lang="en-US" sz="31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804573" y="7004822"/>
            <a:ext cx="10511964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0F0D"/>
                </a:solidFill>
                <a:latin typeface="Poppins"/>
                <a:ea typeface="Poppins"/>
                <a:cs typeface="Poppins"/>
                <a:sym typeface="Poppins"/>
              </a:rPr>
              <a:t>Output: Menampilkan gambar (Top-9) dengan skor kemiripan tertinggi.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816034" y="1581500"/>
            <a:ext cx="10237291" cy="79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BAGAIMANA MODEL DIKEMBANGAN?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16034" y="4188234"/>
            <a:ext cx="412853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4P Technique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835132" y="2541928"/>
            <a:ext cx="14617736" cy="3800611"/>
          </a:xfrm>
          <a:custGeom>
            <a:avLst/>
            <a:gdLst/>
            <a:ahLst/>
            <a:cxnLst/>
            <a:rect l="l" t="t" r="r" b="b"/>
            <a:pathLst>
              <a:path w="14617736" h="3800611">
                <a:moveTo>
                  <a:pt x="0" y="0"/>
                </a:moveTo>
                <a:lnTo>
                  <a:pt x="14617736" y="0"/>
                </a:lnTo>
                <a:lnTo>
                  <a:pt x="14617736" y="3800611"/>
                </a:lnTo>
                <a:lnTo>
                  <a:pt x="0" y="3800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835132" y="5143500"/>
            <a:ext cx="14617736" cy="3800611"/>
          </a:xfrm>
          <a:custGeom>
            <a:avLst/>
            <a:gdLst/>
            <a:ahLst/>
            <a:cxnLst/>
            <a:rect l="l" t="t" r="r" b="b"/>
            <a:pathLst>
              <a:path w="14617736" h="3800611">
                <a:moveTo>
                  <a:pt x="0" y="0"/>
                </a:moveTo>
                <a:lnTo>
                  <a:pt x="14617736" y="0"/>
                </a:lnTo>
                <a:lnTo>
                  <a:pt x="14617736" y="3800611"/>
                </a:lnTo>
                <a:lnTo>
                  <a:pt x="0" y="3800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327157" y="2856381"/>
            <a:ext cx="13595585" cy="619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dikembangkan menggunakan metode Transfer Learning dengan ResNet50 yang sudah dilatih pada dataset ImageNet. Model Convolutional Neural Network (CNN) digunakan untuk mengekstraksi fitur penting dari setiap citra. Lapisan-lapisan CNN secara otomatis mempelajari pola visual seperti tekstur dan bentuk dari citra X-ray. Hasil ekstraksi fitur dari seluruh citra dataset disimpan dalam bentuk vektor numerik (embedding) yang mewakili ciri khas masing-masing citra. Ketika pengguna mengunggah citra query, sistem mengekstraksi fitur citra tersebut dan menghitung jarak kemiripan (misalnya cosine similarity atau Euclidean distance) antara vektor query dan vektor pada basis data.</a:t>
            </a: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Citra dengan tingkat kemiripan tertinggi ditampilkan sebagai hasil pencarian, menunjukkan citra X-ray yang paling mirip dengan citra masukan.</a:t>
            </a:r>
          </a:p>
          <a:p>
            <a:pPr algn="ctr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64731" y="1767281"/>
            <a:ext cx="13958538" cy="7938919"/>
          </a:xfrm>
          <a:custGeom>
            <a:avLst/>
            <a:gdLst/>
            <a:ahLst/>
            <a:cxnLst/>
            <a:rect l="l" t="t" r="r" b="b"/>
            <a:pathLst>
              <a:path w="13958538" h="7938919">
                <a:moveTo>
                  <a:pt x="0" y="0"/>
                </a:moveTo>
                <a:lnTo>
                  <a:pt x="13958538" y="0"/>
                </a:lnTo>
                <a:lnTo>
                  <a:pt x="13958538" y="7938919"/>
                </a:lnTo>
                <a:lnTo>
                  <a:pt x="0" y="7938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68991" y="580800"/>
            <a:ext cx="9550016" cy="901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09"/>
              </a:lnSpc>
              <a:spcBef>
                <a:spcPct val="0"/>
              </a:spcBef>
            </a:pPr>
            <a:r>
              <a:rPr lang="en-US" sz="529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Hasil </a:t>
            </a:r>
            <a:r>
              <a:rPr lang="en-US" sz="5292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Matriks</a:t>
            </a:r>
            <a:r>
              <a:rPr lang="en-US" sz="529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Performance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74056" y="748840"/>
            <a:ext cx="13073997" cy="901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09"/>
              </a:lnSpc>
              <a:spcBef>
                <a:spcPct val="0"/>
              </a:spcBef>
            </a:pPr>
            <a:r>
              <a:rPr lang="en-US" sz="529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HASIL EVALUASI PERFORMA PER KELAS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D41A08-A5E8-4C8C-AAAA-418E380CB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952191"/>
              </p:ext>
            </p:extLst>
          </p:nvPr>
        </p:nvGraphicFramePr>
        <p:xfrm>
          <a:off x="1867710" y="2081719"/>
          <a:ext cx="14286690" cy="7100380"/>
        </p:xfrm>
        <a:graphic>
          <a:graphicData uri="http://schemas.openxmlformats.org/drawingml/2006/table">
            <a:tbl>
              <a:tblPr/>
              <a:tblGrid>
                <a:gridCol w="2381115">
                  <a:extLst>
                    <a:ext uri="{9D8B030D-6E8A-4147-A177-3AD203B41FA5}">
                      <a16:colId xmlns:a16="http://schemas.microsoft.com/office/drawing/2014/main" val="3730022299"/>
                    </a:ext>
                  </a:extLst>
                </a:gridCol>
                <a:gridCol w="2381115">
                  <a:extLst>
                    <a:ext uri="{9D8B030D-6E8A-4147-A177-3AD203B41FA5}">
                      <a16:colId xmlns:a16="http://schemas.microsoft.com/office/drawing/2014/main" val="1831692543"/>
                    </a:ext>
                  </a:extLst>
                </a:gridCol>
                <a:gridCol w="2381115">
                  <a:extLst>
                    <a:ext uri="{9D8B030D-6E8A-4147-A177-3AD203B41FA5}">
                      <a16:colId xmlns:a16="http://schemas.microsoft.com/office/drawing/2014/main" val="908186623"/>
                    </a:ext>
                  </a:extLst>
                </a:gridCol>
                <a:gridCol w="2381115">
                  <a:extLst>
                    <a:ext uri="{9D8B030D-6E8A-4147-A177-3AD203B41FA5}">
                      <a16:colId xmlns:a16="http://schemas.microsoft.com/office/drawing/2014/main" val="2140148043"/>
                    </a:ext>
                  </a:extLst>
                </a:gridCol>
                <a:gridCol w="2381115">
                  <a:extLst>
                    <a:ext uri="{9D8B030D-6E8A-4147-A177-3AD203B41FA5}">
                      <a16:colId xmlns:a16="http://schemas.microsoft.com/office/drawing/2014/main" val="1286928054"/>
                    </a:ext>
                  </a:extLst>
                </a:gridCol>
                <a:gridCol w="2381115">
                  <a:extLst>
                    <a:ext uri="{9D8B030D-6E8A-4147-A177-3AD203B41FA5}">
                      <a16:colId xmlns:a16="http://schemas.microsoft.com/office/drawing/2014/main" val="1532939727"/>
                    </a:ext>
                  </a:extLst>
                </a:gridCol>
              </a:tblGrid>
              <a:tr h="1420076">
                <a:tc>
                  <a:txBody>
                    <a:bodyPr/>
                    <a:lstStyle/>
                    <a:p>
                      <a:r>
                        <a:rPr lang="en-ID" sz="2000" b="1">
                          <a:solidFill>
                            <a:srgbClr val="1B1C1D"/>
                          </a:solidFill>
                          <a:effectLst/>
                        </a:rPr>
                        <a:t>Kelas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0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>
                          <a:solidFill>
                            <a:srgbClr val="1B1C1D"/>
                          </a:solidFill>
                          <a:effectLst/>
                        </a:rPr>
                        <a:t>mAP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0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>
                          <a:solidFill>
                            <a:srgbClr val="1B1C1D"/>
                          </a:solidFill>
                          <a:effectLst/>
                        </a:rPr>
                        <a:t>P@1 (Akurasi)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0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>
                          <a:solidFill>
                            <a:srgbClr val="1B1C1D"/>
                          </a:solidFill>
                          <a:effectLst/>
                        </a:rPr>
                        <a:t>P@10 (Precision)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0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>
                          <a:solidFill>
                            <a:srgbClr val="1B1C1D"/>
                          </a:solidFill>
                          <a:effectLst/>
                        </a:rPr>
                        <a:t>R@10(Recall)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0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>
                          <a:solidFill>
                            <a:srgbClr val="1B1C1D"/>
                          </a:solidFill>
                          <a:effectLst/>
                        </a:rPr>
                        <a:t>F1@10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76274"/>
                  </a:ext>
                </a:extLst>
              </a:tr>
              <a:tr h="1420076">
                <a:tc>
                  <a:txBody>
                    <a:bodyPr/>
                    <a:lstStyle/>
                    <a:p>
                      <a:r>
                        <a:rPr lang="en-ID" sz="2000">
                          <a:solidFill>
                            <a:srgbClr val="1B1C1D"/>
                          </a:solidFill>
                          <a:effectLst/>
                        </a:rPr>
                        <a:t>COVID19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0.4481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0.9400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0.8260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0.9800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0.8742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015185"/>
                  </a:ext>
                </a:extLst>
              </a:tr>
              <a:tr h="1420076">
                <a:tc>
                  <a:txBody>
                    <a:bodyPr/>
                    <a:lstStyle/>
                    <a:p>
                      <a:r>
                        <a:rPr lang="en-ID" sz="2000">
                          <a:solidFill>
                            <a:srgbClr val="1B1C1D"/>
                          </a:solidFill>
                          <a:effectLst/>
                        </a:rPr>
                        <a:t>NORMAL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0.6420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0.9200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0.8940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0.9800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0.9272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152032"/>
                  </a:ext>
                </a:extLst>
              </a:tr>
              <a:tr h="1420076">
                <a:tc>
                  <a:txBody>
                    <a:bodyPr/>
                    <a:lstStyle/>
                    <a:p>
                      <a:r>
                        <a:rPr lang="en-ID" sz="2000">
                          <a:solidFill>
                            <a:srgbClr val="1B1C1D"/>
                          </a:solidFill>
                          <a:effectLst/>
                        </a:rPr>
                        <a:t>PNEUMONIA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0.8107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0.9600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0.9520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1.0000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solidFill>
                            <a:srgbClr val="1B1C1D"/>
                          </a:solidFill>
                          <a:effectLst/>
                        </a:rPr>
                        <a:t>0.9640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47202"/>
                  </a:ext>
                </a:extLst>
              </a:tr>
              <a:tr h="1420076">
                <a:tc>
                  <a:txBody>
                    <a:bodyPr/>
                    <a:lstStyle/>
                    <a:p>
                      <a:r>
                        <a:rPr lang="en-ID" sz="2000" b="1">
                          <a:solidFill>
                            <a:srgbClr val="1B1C1D"/>
                          </a:solidFill>
                          <a:effectLst/>
                        </a:rPr>
                        <a:t>OVERALL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 dirty="0">
                          <a:solidFill>
                            <a:srgbClr val="1B1C1D"/>
                          </a:solidFill>
                          <a:effectLst/>
                        </a:rPr>
                        <a:t>0.6336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 dirty="0">
                          <a:solidFill>
                            <a:srgbClr val="1B1C1D"/>
                          </a:solidFill>
                          <a:effectLst/>
                        </a:rPr>
                        <a:t>0.9400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 dirty="0">
                          <a:solidFill>
                            <a:srgbClr val="1B1C1D"/>
                          </a:solidFill>
                          <a:effectLst/>
                        </a:rPr>
                        <a:t>0.8907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 dirty="0">
                          <a:solidFill>
                            <a:srgbClr val="1B1C1D"/>
                          </a:solidFill>
                          <a:effectLst/>
                        </a:rPr>
                        <a:t>0.9867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2000" b="1" dirty="0">
                          <a:solidFill>
                            <a:srgbClr val="1B1C1D"/>
                          </a:solidFill>
                          <a:effectLst/>
                        </a:rPr>
                        <a:t>0.9218</a:t>
                      </a:r>
                    </a:p>
                  </a:txBody>
                  <a:tcPr marL="61267" marR="61267" marT="30634" marB="3063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83839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86F8E194-9CA8-41E0-A72C-CCDEB78F2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85732" y="1865779"/>
            <a:ext cx="11000956" cy="7741923"/>
          </a:xfrm>
          <a:custGeom>
            <a:avLst/>
            <a:gdLst/>
            <a:ahLst/>
            <a:cxnLst/>
            <a:rect l="l" t="t" r="r" b="b"/>
            <a:pathLst>
              <a:path w="11000956" h="7741923">
                <a:moveTo>
                  <a:pt x="0" y="0"/>
                </a:moveTo>
                <a:lnTo>
                  <a:pt x="11000957" y="0"/>
                </a:lnTo>
                <a:lnTo>
                  <a:pt x="11000957" y="7741923"/>
                </a:lnTo>
                <a:lnTo>
                  <a:pt x="0" y="7741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50357" y="767729"/>
            <a:ext cx="8232243" cy="901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09"/>
              </a:lnSpc>
              <a:spcBef>
                <a:spcPct val="0"/>
              </a:spcBef>
            </a:pPr>
            <a:r>
              <a:rPr lang="en-US" sz="529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GRAFIK PERFORMANCE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86816" y="1638105"/>
            <a:ext cx="3341874" cy="3423474"/>
          </a:xfrm>
          <a:custGeom>
            <a:avLst/>
            <a:gdLst/>
            <a:ahLst/>
            <a:cxnLst/>
            <a:rect l="l" t="t" r="r" b="b"/>
            <a:pathLst>
              <a:path w="3341874" h="3423474">
                <a:moveTo>
                  <a:pt x="0" y="0"/>
                </a:moveTo>
                <a:lnTo>
                  <a:pt x="3341874" y="0"/>
                </a:lnTo>
                <a:lnTo>
                  <a:pt x="3341874" y="3423474"/>
                </a:lnTo>
                <a:lnTo>
                  <a:pt x="0" y="3423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842" r="-100000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28408" y="6020736"/>
            <a:ext cx="3378293" cy="3423474"/>
          </a:xfrm>
          <a:custGeom>
            <a:avLst/>
            <a:gdLst/>
            <a:ahLst/>
            <a:cxnLst/>
            <a:rect l="l" t="t" r="r" b="b"/>
            <a:pathLst>
              <a:path w="3378293" h="3423474">
                <a:moveTo>
                  <a:pt x="0" y="0"/>
                </a:moveTo>
                <a:lnTo>
                  <a:pt x="3378293" y="0"/>
                </a:lnTo>
                <a:lnTo>
                  <a:pt x="3378293" y="3423474"/>
                </a:lnTo>
                <a:lnTo>
                  <a:pt x="0" y="3423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913" t="-9755" b="-77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422691" y="1723022"/>
            <a:ext cx="10379311" cy="7620195"/>
          </a:xfrm>
          <a:custGeom>
            <a:avLst/>
            <a:gdLst/>
            <a:ahLst/>
            <a:cxnLst/>
            <a:rect l="l" t="t" r="r" b="b"/>
            <a:pathLst>
              <a:path w="10379311" h="7620195">
                <a:moveTo>
                  <a:pt x="0" y="0"/>
                </a:moveTo>
                <a:lnTo>
                  <a:pt x="10379311" y="0"/>
                </a:lnTo>
                <a:lnTo>
                  <a:pt x="10379311" y="7620196"/>
                </a:lnTo>
                <a:lnTo>
                  <a:pt x="0" y="7620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220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218562" y="579606"/>
            <a:ext cx="5850874" cy="901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09"/>
              </a:lnSpc>
              <a:spcBef>
                <a:spcPct val="0"/>
              </a:spcBef>
            </a:pPr>
            <a:r>
              <a:rPr lang="en-US" sz="529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Hasil Uji Coba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0296" y="952500"/>
            <a:ext cx="3628560" cy="51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sz="2962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Query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12347" y="1030499"/>
            <a:ext cx="3797058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Output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50900" y="5466445"/>
            <a:ext cx="3628560" cy="51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sz="2962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Grad Cam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5657" y="1623176"/>
            <a:ext cx="15311929" cy="2417484"/>
            <a:chOff x="0" y="0"/>
            <a:chExt cx="4032771" cy="6367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32771" cy="636704"/>
            </a:xfrm>
            <a:custGeom>
              <a:avLst/>
              <a:gdLst/>
              <a:ahLst/>
              <a:cxnLst/>
              <a:rect l="l" t="t" r="r" b="b"/>
              <a:pathLst>
                <a:path w="4032771" h="636704">
                  <a:moveTo>
                    <a:pt x="25786" y="0"/>
                  </a:moveTo>
                  <a:lnTo>
                    <a:pt x="4006985" y="0"/>
                  </a:lnTo>
                  <a:cubicBezTo>
                    <a:pt x="4021226" y="0"/>
                    <a:pt x="4032771" y="11545"/>
                    <a:pt x="4032771" y="25786"/>
                  </a:cubicBezTo>
                  <a:lnTo>
                    <a:pt x="4032771" y="610917"/>
                  </a:lnTo>
                  <a:cubicBezTo>
                    <a:pt x="4032771" y="625159"/>
                    <a:pt x="4021226" y="636704"/>
                    <a:pt x="4006985" y="636704"/>
                  </a:cubicBezTo>
                  <a:lnTo>
                    <a:pt x="25786" y="636704"/>
                  </a:lnTo>
                  <a:cubicBezTo>
                    <a:pt x="11545" y="636704"/>
                    <a:pt x="0" y="625159"/>
                    <a:pt x="0" y="610917"/>
                  </a:cubicBezTo>
                  <a:lnTo>
                    <a:pt x="0" y="25786"/>
                  </a:lnTo>
                  <a:cubicBezTo>
                    <a:pt x="0" y="11545"/>
                    <a:pt x="11545" y="0"/>
                    <a:pt x="25786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032771" cy="684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324600" y="438266"/>
            <a:ext cx="5485358" cy="1121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2513513" y="4403124"/>
            <a:ext cx="2656605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Price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00414" y="4293786"/>
            <a:ext cx="15311929" cy="2714944"/>
            <a:chOff x="0" y="0"/>
            <a:chExt cx="4032771" cy="7150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32771" cy="715047"/>
            </a:xfrm>
            <a:custGeom>
              <a:avLst/>
              <a:gdLst/>
              <a:ahLst/>
              <a:cxnLst/>
              <a:rect l="l" t="t" r="r" b="b"/>
              <a:pathLst>
                <a:path w="4032771" h="715047">
                  <a:moveTo>
                    <a:pt x="25786" y="0"/>
                  </a:moveTo>
                  <a:lnTo>
                    <a:pt x="4006985" y="0"/>
                  </a:lnTo>
                  <a:cubicBezTo>
                    <a:pt x="4021226" y="0"/>
                    <a:pt x="4032771" y="11545"/>
                    <a:pt x="4032771" y="25786"/>
                  </a:cubicBezTo>
                  <a:lnTo>
                    <a:pt x="4032771" y="689261"/>
                  </a:lnTo>
                  <a:cubicBezTo>
                    <a:pt x="4032771" y="703502"/>
                    <a:pt x="4021226" y="715047"/>
                    <a:pt x="4006985" y="715047"/>
                  </a:cubicBezTo>
                  <a:lnTo>
                    <a:pt x="25786" y="715047"/>
                  </a:lnTo>
                  <a:cubicBezTo>
                    <a:pt x="11545" y="715047"/>
                    <a:pt x="0" y="703502"/>
                    <a:pt x="0" y="689261"/>
                  </a:cubicBezTo>
                  <a:lnTo>
                    <a:pt x="0" y="25786"/>
                  </a:lnTo>
                  <a:cubicBezTo>
                    <a:pt x="0" y="11545"/>
                    <a:pt x="11545" y="0"/>
                    <a:pt x="25786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032771" cy="762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00414" y="7239048"/>
            <a:ext cx="15311929" cy="2200480"/>
            <a:chOff x="0" y="0"/>
            <a:chExt cx="4032771" cy="579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32771" cy="579550"/>
            </a:xfrm>
            <a:custGeom>
              <a:avLst/>
              <a:gdLst/>
              <a:ahLst/>
              <a:cxnLst/>
              <a:rect l="l" t="t" r="r" b="b"/>
              <a:pathLst>
                <a:path w="4032771" h="579550">
                  <a:moveTo>
                    <a:pt x="25786" y="0"/>
                  </a:moveTo>
                  <a:lnTo>
                    <a:pt x="4006985" y="0"/>
                  </a:lnTo>
                  <a:cubicBezTo>
                    <a:pt x="4021226" y="0"/>
                    <a:pt x="4032771" y="11545"/>
                    <a:pt x="4032771" y="25786"/>
                  </a:cubicBezTo>
                  <a:lnTo>
                    <a:pt x="4032771" y="553764"/>
                  </a:lnTo>
                  <a:cubicBezTo>
                    <a:pt x="4032771" y="568005"/>
                    <a:pt x="4021226" y="579550"/>
                    <a:pt x="4006985" y="579550"/>
                  </a:cubicBezTo>
                  <a:lnTo>
                    <a:pt x="25786" y="579550"/>
                  </a:lnTo>
                  <a:cubicBezTo>
                    <a:pt x="11545" y="579550"/>
                    <a:pt x="0" y="568005"/>
                    <a:pt x="0" y="553764"/>
                  </a:cubicBezTo>
                  <a:lnTo>
                    <a:pt x="0" y="25786"/>
                  </a:lnTo>
                  <a:cubicBezTo>
                    <a:pt x="0" y="11545"/>
                    <a:pt x="11545" y="0"/>
                    <a:pt x="25786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032771" cy="6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75657" y="1822703"/>
            <a:ext cx="15138379" cy="744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Penerapan Deep Learning (ResNet50) telah berhasil digunakan untuk mengekstraksi fitur unik (vektor fitur) dari setiap citra Rontgen (COVID-19, Pneumonia, dan Normal).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Metode Cosine Similarity telah berhasil diimplementasikan untuk mengukur kemiripan antar vektor fitur, dan terbukti efektif dalam menemukan serta mengurutkan gambar yang relevan secara visual.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FEFE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Implikasi: Sistem CBIR yang dibangun dari kombinasi kedua metode ini berhasil menjadi alat bantu diagnosis yang objektif dan efisien.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55" y="5329499"/>
            <a:ext cx="368044" cy="407241"/>
          </a:xfrm>
          <a:custGeom>
            <a:avLst/>
            <a:gdLst/>
            <a:ahLst/>
            <a:cxnLst/>
            <a:rect l="l" t="t" r="r" b="b"/>
            <a:pathLst>
              <a:path w="368044" h="407241">
                <a:moveTo>
                  <a:pt x="0" y="0"/>
                </a:moveTo>
                <a:lnTo>
                  <a:pt x="368045" y="0"/>
                </a:lnTo>
                <a:lnTo>
                  <a:pt x="368045" y="407242"/>
                </a:lnTo>
                <a:lnTo>
                  <a:pt x="0" y="40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77544" y="438266"/>
            <a:ext cx="8532912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 GOOGLE COLAB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513513" y="4403124"/>
            <a:ext cx="2656605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Price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00414" y="4293786"/>
            <a:ext cx="15311929" cy="2714944"/>
            <a:chOff x="0" y="0"/>
            <a:chExt cx="4032771" cy="7150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2771" cy="715047"/>
            </a:xfrm>
            <a:custGeom>
              <a:avLst/>
              <a:gdLst/>
              <a:ahLst/>
              <a:cxnLst/>
              <a:rect l="l" t="t" r="r" b="b"/>
              <a:pathLst>
                <a:path w="4032771" h="715047">
                  <a:moveTo>
                    <a:pt x="25786" y="0"/>
                  </a:moveTo>
                  <a:lnTo>
                    <a:pt x="4006985" y="0"/>
                  </a:lnTo>
                  <a:cubicBezTo>
                    <a:pt x="4021226" y="0"/>
                    <a:pt x="4032771" y="11545"/>
                    <a:pt x="4032771" y="25786"/>
                  </a:cubicBezTo>
                  <a:lnTo>
                    <a:pt x="4032771" y="689261"/>
                  </a:lnTo>
                  <a:cubicBezTo>
                    <a:pt x="4032771" y="703502"/>
                    <a:pt x="4021226" y="715047"/>
                    <a:pt x="4006985" y="715047"/>
                  </a:cubicBezTo>
                  <a:lnTo>
                    <a:pt x="25786" y="715047"/>
                  </a:lnTo>
                  <a:cubicBezTo>
                    <a:pt x="11545" y="715047"/>
                    <a:pt x="0" y="703502"/>
                    <a:pt x="0" y="689261"/>
                  </a:cubicBezTo>
                  <a:lnTo>
                    <a:pt x="0" y="25786"/>
                  </a:lnTo>
                  <a:cubicBezTo>
                    <a:pt x="0" y="11545"/>
                    <a:pt x="11545" y="0"/>
                    <a:pt x="25786" y="0"/>
                  </a:cubicBez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032771" cy="762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66878" y="4656820"/>
            <a:ext cx="15138379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https://colab.research.google.com/drive/1fF2QZIh-OR0aHJAMs0A2NIQLMQHDEUYv?usp=sharing 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FEFEFE">
                <a:alpha val="4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8263" y="347334"/>
            <a:ext cx="17231474" cy="9592332"/>
            <a:chOff x="0" y="0"/>
            <a:chExt cx="4785323" cy="26638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85323" cy="2663870"/>
            </a:xfrm>
            <a:custGeom>
              <a:avLst/>
              <a:gdLst/>
              <a:ahLst/>
              <a:cxnLst/>
              <a:rect l="l" t="t" r="r" b="b"/>
              <a:pathLst>
                <a:path w="4785323" h="2663870">
                  <a:moveTo>
                    <a:pt x="22015" y="0"/>
                  </a:moveTo>
                  <a:lnTo>
                    <a:pt x="4763307" y="0"/>
                  </a:lnTo>
                  <a:cubicBezTo>
                    <a:pt x="4769146" y="0"/>
                    <a:pt x="4774746" y="2319"/>
                    <a:pt x="4778875" y="6448"/>
                  </a:cubicBezTo>
                  <a:cubicBezTo>
                    <a:pt x="4783003" y="10577"/>
                    <a:pt x="4785323" y="16176"/>
                    <a:pt x="4785323" y="22015"/>
                  </a:cubicBezTo>
                  <a:lnTo>
                    <a:pt x="4785323" y="2641855"/>
                  </a:lnTo>
                  <a:cubicBezTo>
                    <a:pt x="4785323" y="2647694"/>
                    <a:pt x="4783003" y="2653293"/>
                    <a:pt x="4778875" y="2657422"/>
                  </a:cubicBezTo>
                  <a:cubicBezTo>
                    <a:pt x="4774746" y="2661551"/>
                    <a:pt x="4769146" y="2663870"/>
                    <a:pt x="4763307" y="2663870"/>
                  </a:cubicBezTo>
                  <a:lnTo>
                    <a:pt x="22015" y="2663870"/>
                  </a:lnTo>
                  <a:cubicBezTo>
                    <a:pt x="16176" y="2663870"/>
                    <a:pt x="10577" y="2661551"/>
                    <a:pt x="6448" y="2657422"/>
                  </a:cubicBezTo>
                  <a:cubicBezTo>
                    <a:pt x="2319" y="2653293"/>
                    <a:pt x="0" y="2647694"/>
                    <a:pt x="0" y="2641855"/>
                  </a:cubicBezTo>
                  <a:lnTo>
                    <a:pt x="0" y="22015"/>
                  </a:lnTo>
                  <a:cubicBezTo>
                    <a:pt x="0" y="16176"/>
                    <a:pt x="2319" y="10577"/>
                    <a:pt x="6448" y="6448"/>
                  </a:cubicBezTo>
                  <a:cubicBezTo>
                    <a:pt x="10577" y="2319"/>
                    <a:pt x="16176" y="0"/>
                    <a:pt x="22015" y="0"/>
                  </a:cubicBezTo>
                  <a:close/>
                </a:path>
              </a:pathLst>
            </a:custGeom>
            <a:solidFill>
              <a:srgbClr val="322E89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85323" cy="2711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3317" y="479239"/>
            <a:ext cx="16941365" cy="9328521"/>
            <a:chOff x="0" y="0"/>
            <a:chExt cx="4704757" cy="25906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04757" cy="2590608"/>
            </a:xfrm>
            <a:custGeom>
              <a:avLst/>
              <a:gdLst/>
              <a:ahLst/>
              <a:cxnLst/>
              <a:rect l="l" t="t" r="r" b="b"/>
              <a:pathLst>
                <a:path w="4704757" h="2590608">
                  <a:moveTo>
                    <a:pt x="22392" y="0"/>
                  </a:moveTo>
                  <a:lnTo>
                    <a:pt x="4682365" y="0"/>
                  </a:lnTo>
                  <a:cubicBezTo>
                    <a:pt x="4694732" y="0"/>
                    <a:pt x="4704757" y="10025"/>
                    <a:pt x="4704757" y="22392"/>
                  </a:cubicBezTo>
                  <a:lnTo>
                    <a:pt x="4704757" y="2568215"/>
                  </a:lnTo>
                  <a:cubicBezTo>
                    <a:pt x="4704757" y="2574154"/>
                    <a:pt x="4702398" y="2579850"/>
                    <a:pt x="4698199" y="2584049"/>
                  </a:cubicBezTo>
                  <a:cubicBezTo>
                    <a:pt x="4694000" y="2588248"/>
                    <a:pt x="4688304" y="2590608"/>
                    <a:pt x="4682365" y="2590608"/>
                  </a:cubicBezTo>
                  <a:lnTo>
                    <a:pt x="22392" y="2590608"/>
                  </a:lnTo>
                  <a:cubicBezTo>
                    <a:pt x="16453" y="2590608"/>
                    <a:pt x="10758" y="2588248"/>
                    <a:pt x="6559" y="2584049"/>
                  </a:cubicBezTo>
                  <a:cubicBezTo>
                    <a:pt x="2359" y="2579850"/>
                    <a:pt x="0" y="2574154"/>
                    <a:pt x="0" y="2568215"/>
                  </a:cubicBezTo>
                  <a:lnTo>
                    <a:pt x="0" y="22392"/>
                  </a:lnTo>
                  <a:cubicBezTo>
                    <a:pt x="0" y="10025"/>
                    <a:pt x="10025" y="0"/>
                    <a:pt x="22392" y="0"/>
                  </a:cubicBezTo>
                  <a:close/>
                </a:path>
              </a:pathLst>
            </a:custGeom>
            <a:solidFill>
              <a:srgbClr val="4D4B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704757" cy="26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3317" y="479239"/>
            <a:ext cx="16941365" cy="9328521"/>
            <a:chOff x="0" y="0"/>
            <a:chExt cx="1476112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76112" cy="812800"/>
            </a:xfrm>
            <a:custGeom>
              <a:avLst/>
              <a:gdLst/>
              <a:ahLst/>
              <a:cxnLst/>
              <a:rect l="l" t="t" r="r" b="b"/>
              <a:pathLst>
                <a:path w="1476112" h="812800">
                  <a:moveTo>
                    <a:pt x="10511" y="0"/>
                  </a:moveTo>
                  <a:lnTo>
                    <a:pt x="1465601" y="0"/>
                  </a:lnTo>
                  <a:cubicBezTo>
                    <a:pt x="1471406" y="0"/>
                    <a:pt x="1476112" y="4706"/>
                    <a:pt x="1476112" y="10511"/>
                  </a:cubicBezTo>
                  <a:lnTo>
                    <a:pt x="1476112" y="802289"/>
                  </a:lnTo>
                  <a:cubicBezTo>
                    <a:pt x="1476112" y="808094"/>
                    <a:pt x="1471406" y="812800"/>
                    <a:pt x="1465601" y="812800"/>
                  </a:cubicBezTo>
                  <a:lnTo>
                    <a:pt x="10511" y="812800"/>
                  </a:lnTo>
                  <a:cubicBezTo>
                    <a:pt x="4706" y="812800"/>
                    <a:pt x="0" y="808094"/>
                    <a:pt x="0" y="802289"/>
                  </a:cubicBezTo>
                  <a:lnTo>
                    <a:pt x="0" y="10511"/>
                  </a:lnTo>
                  <a:cubicBezTo>
                    <a:pt x="0" y="4706"/>
                    <a:pt x="4706" y="0"/>
                    <a:pt x="10511" y="0"/>
                  </a:cubicBez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t="-10611" b="-10611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6366650" y="724016"/>
            <a:ext cx="841873" cy="258876"/>
          </a:xfrm>
          <a:custGeom>
            <a:avLst/>
            <a:gdLst/>
            <a:ahLst/>
            <a:cxnLst/>
            <a:rect l="l" t="t" r="r" b="b"/>
            <a:pathLst>
              <a:path w="841873" h="258876">
                <a:moveTo>
                  <a:pt x="0" y="0"/>
                </a:moveTo>
                <a:lnTo>
                  <a:pt x="841872" y="0"/>
                </a:lnTo>
                <a:lnTo>
                  <a:pt x="841872" y="258876"/>
                </a:lnTo>
                <a:lnTo>
                  <a:pt x="0" y="25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249033" y="5456380"/>
            <a:ext cx="5789935" cy="702030"/>
          </a:xfrm>
          <a:custGeom>
            <a:avLst/>
            <a:gdLst/>
            <a:ahLst/>
            <a:cxnLst/>
            <a:rect l="l" t="t" r="r" b="b"/>
            <a:pathLst>
              <a:path w="5789935" h="702030">
                <a:moveTo>
                  <a:pt x="0" y="0"/>
                </a:moveTo>
                <a:lnTo>
                  <a:pt x="5789934" y="0"/>
                </a:lnTo>
                <a:lnTo>
                  <a:pt x="5789934" y="702030"/>
                </a:lnTo>
                <a:lnTo>
                  <a:pt x="0" y="7020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249033" y="3565622"/>
            <a:ext cx="5789935" cy="153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44"/>
              </a:lnSpc>
            </a:pPr>
            <a:r>
              <a:rPr lang="en-US" sz="896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634</Words>
  <Application>Microsoft Office PowerPoint</Application>
  <PresentationFormat>Custom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Canva Sans Bold</vt:lpstr>
      <vt:lpstr>Poppins Italics</vt:lpstr>
      <vt:lpstr>Canva Sans</vt:lpstr>
      <vt:lpstr>Poppins</vt:lpstr>
      <vt:lpstr>Mont</vt:lpstr>
      <vt:lpstr>Mont Bold</vt:lpstr>
      <vt:lpstr>Poppins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 TKC</dc:title>
  <cp:lastModifiedBy>Maylani Kusuma</cp:lastModifiedBy>
  <cp:revision>3</cp:revision>
  <dcterms:created xsi:type="dcterms:W3CDTF">2006-08-16T00:00:00Z</dcterms:created>
  <dcterms:modified xsi:type="dcterms:W3CDTF">2025-11-08T14:10:25Z</dcterms:modified>
  <dc:identifier>DAG4BG3_iec</dc:identifier>
</cp:coreProperties>
</file>